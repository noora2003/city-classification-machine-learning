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e Vietnam" panose="020B0604020202020204" charset="0"/>
      <p:regular r:id="rId14"/>
    </p:embeddedFont>
    <p:embeddedFont>
      <p:font typeface="Be Vietnam Ultra-Bold" panose="020B0604020202020204" charset="0"/>
      <p:regular r:id="rId15"/>
    </p:embeddedFont>
    <p:embeddedFont>
      <p:font typeface="Berkshire Swash" panose="020B0604020202020204" charset="0"/>
      <p:regular r:id="rId16"/>
    </p:embeddedFont>
    <p:embeddedFont>
      <p:font typeface="File" panose="020B0604020202020204" charset="0"/>
      <p:regular r:id="rId17"/>
    </p:embeddedFont>
    <p:embeddedFont>
      <p:font typeface="Viscont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363599" y="5806717"/>
            <a:ext cx="4116684" cy="4843882"/>
          </a:xfrm>
          <a:custGeom>
            <a:avLst/>
            <a:gdLst/>
            <a:ahLst/>
            <a:cxnLst/>
            <a:rect l="l" t="t" r="r" b="b"/>
            <a:pathLst>
              <a:path w="4116684" h="4843882">
                <a:moveTo>
                  <a:pt x="0" y="0"/>
                </a:moveTo>
                <a:lnTo>
                  <a:pt x="4116684" y="0"/>
                </a:lnTo>
                <a:lnTo>
                  <a:pt x="4116684" y="4843882"/>
                </a:lnTo>
                <a:lnTo>
                  <a:pt x="0" y="4843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3807717" y="-363599"/>
            <a:ext cx="4116684" cy="4843882"/>
          </a:xfrm>
          <a:custGeom>
            <a:avLst/>
            <a:gdLst/>
            <a:ahLst/>
            <a:cxnLst/>
            <a:rect l="l" t="t" r="r" b="b"/>
            <a:pathLst>
              <a:path w="4116684" h="4843882">
                <a:moveTo>
                  <a:pt x="0" y="0"/>
                </a:moveTo>
                <a:lnTo>
                  <a:pt x="4116684" y="0"/>
                </a:lnTo>
                <a:lnTo>
                  <a:pt x="4116684" y="4843882"/>
                </a:lnTo>
                <a:lnTo>
                  <a:pt x="0" y="4843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1512" y="3053055"/>
            <a:ext cx="17124161" cy="106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1"/>
              </a:lnSpc>
            </a:pPr>
            <a:r>
              <a:rPr lang="en-US" sz="7797">
                <a:solidFill>
                  <a:srgbClr val="004AAD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Machine Learning and Data Science</a:t>
            </a:r>
          </a:p>
        </p:txBody>
      </p:sp>
      <p:sp>
        <p:nvSpPr>
          <p:cNvPr id="6" name="Freeform 6"/>
          <p:cNvSpPr/>
          <p:nvPr/>
        </p:nvSpPr>
        <p:spPr>
          <a:xfrm rot="-5400000">
            <a:off x="267991" y="-372963"/>
            <a:ext cx="3034202" cy="3570183"/>
          </a:xfrm>
          <a:custGeom>
            <a:avLst/>
            <a:gdLst/>
            <a:ahLst/>
            <a:cxnLst/>
            <a:rect l="l" t="t" r="r" b="b"/>
            <a:pathLst>
              <a:path w="3034202" h="3570183">
                <a:moveTo>
                  <a:pt x="0" y="0"/>
                </a:moveTo>
                <a:lnTo>
                  <a:pt x="3034201" y="0"/>
                </a:lnTo>
                <a:lnTo>
                  <a:pt x="3034201" y="3570183"/>
                </a:lnTo>
                <a:lnTo>
                  <a:pt x="0" y="3570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9698" y="5758908"/>
            <a:ext cx="3848302" cy="4528092"/>
          </a:xfrm>
          <a:custGeom>
            <a:avLst/>
            <a:gdLst/>
            <a:ahLst/>
            <a:cxnLst/>
            <a:rect l="l" t="t" r="r" b="b"/>
            <a:pathLst>
              <a:path w="3848302" h="4528092">
                <a:moveTo>
                  <a:pt x="0" y="0"/>
                </a:moveTo>
                <a:lnTo>
                  <a:pt x="3848302" y="0"/>
                </a:lnTo>
                <a:lnTo>
                  <a:pt x="3848302" y="4528092"/>
                </a:lnTo>
                <a:lnTo>
                  <a:pt x="0" y="4528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22491" y="4772299"/>
            <a:ext cx="9902204" cy="405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6"/>
              </a:lnSpc>
            </a:pPr>
            <a:r>
              <a:rPr lang="en-US" sz="6054">
                <a:solidFill>
                  <a:srgbClr val="004AAD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Assignment #2</a:t>
            </a:r>
          </a:p>
          <a:p>
            <a:pPr algn="l">
              <a:lnSpc>
                <a:spcPts val="6376"/>
              </a:lnSpc>
            </a:pPr>
            <a:endParaRPr lang="en-US" sz="6054">
              <a:solidFill>
                <a:srgbClr val="004AAD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  <a:p>
            <a:pPr algn="l">
              <a:lnSpc>
                <a:spcPts val="6376"/>
              </a:lnSpc>
            </a:pPr>
            <a:endParaRPr lang="en-US" sz="6054">
              <a:solidFill>
                <a:srgbClr val="004AAD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  <a:p>
            <a:pPr algn="l">
              <a:lnSpc>
                <a:spcPts val="6376"/>
              </a:lnSpc>
            </a:pPr>
            <a:endParaRPr lang="en-US" sz="6054">
              <a:solidFill>
                <a:srgbClr val="004AAD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  <a:p>
            <a:pPr algn="ctr">
              <a:lnSpc>
                <a:spcPts val="4416"/>
              </a:lnSpc>
            </a:pPr>
            <a:r>
              <a:rPr lang="en-US" sz="3154">
                <a:solidFill>
                  <a:srgbClr val="004AAD"/>
                </a:solidFill>
                <a:latin typeface="Visconte"/>
                <a:ea typeface="Visconte"/>
                <a:cs typeface="Visconte"/>
                <a:sym typeface="Visconte"/>
              </a:rPr>
              <a:t>Prepared by :Noura khdour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-58793"/>
            <a:ext cx="5140515" cy="6048570"/>
          </a:xfrm>
          <a:custGeom>
            <a:avLst/>
            <a:gdLst/>
            <a:ahLst/>
            <a:cxnLst/>
            <a:rect l="l" t="t" r="r" b="b"/>
            <a:pathLst>
              <a:path w="5140515" h="6048570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74513" y="4056007"/>
            <a:ext cx="5140515" cy="6048570"/>
          </a:xfrm>
          <a:custGeom>
            <a:avLst/>
            <a:gdLst/>
            <a:ahLst/>
            <a:cxnLst/>
            <a:rect l="l" t="t" r="r" b="b"/>
            <a:pathLst>
              <a:path w="5140515" h="6048570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070668" y="771230"/>
            <a:ext cx="8657966" cy="514941"/>
            <a:chOff x="0" y="0"/>
            <a:chExt cx="2280287" cy="135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42717" y="4134861"/>
            <a:ext cx="13203423" cy="100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80"/>
              </a:lnSpc>
              <a:spcBef>
                <a:spcPct val="0"/>
              </a:spcBef>
            </a:pPr>
            <a:r>
              <a:rPr lang="en-US" sz="7456">
                <a:solidFill>
                  <a:srgbClr val="004AAD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 </a:t>
            </a:r>
            <a:r>
              <a:rPr lang="en-US" sz="7456" u="none" strike="noStrike">
                <a:solidFill>
                  <a:srgbClr val="004AAD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Non-Linear Regression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7203" y="828020"/>
            <a:ext cx="1412448" cy="38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237" b="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Part 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27568" y="771230"/>
            <a:ext cx="8657966" cy="514941"/>
            <a:chOff x="0" y="0"/>
            <a:chExt cx="2280287" cy="135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78357" y="1550819"/>
            <a:ext cx="9574783" cy="7707481"/>
          </a:xfrm>
          <a:custGeom>
            <a:avLst/>
            <a:gdLst/>
            <a:ahLst/>
            <a:cxnLst/>
            <a:rect l="l" t="t" r="r" b="b"/>
            <a:pathLst>
              <a:path w="9574783" h="7707481">
                <a:moveTo>
                  <a:pt x="0" y="0"/>
                </a:moveTo>
                <a:lnTo>
                  <a:pt x="9574782" y="0"/>
                </a:lnTo>
                <a:lnTo>
                  <a:pt x="9574782" y="7707481"/>
                </a:lnTo>
                <a:lnTo>
                  <a:pt x="0" y="7707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0" r="-1290" b="-13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71316" y="6395635"/>
            <a:ext cx="4116684" cy="3891365"/>
          </a:xfrm>
          <a:custGeom>
            <a:avLst/>
            <a:gdLst/>
            <a:ahLst/>
            <a:cxnLst/>
            <a:rect l="l" t="t" r="r" b="b"/>
            <a:pathLst>
              <a:path w="4116684" h="3891365">
                <a:moveTo>
                  <a:pt x="0" y="0"/>
                </a:moveTo>
                <a:lnTo>
                  <a:pt x="4116684" y="0"/>
                </a:lnTo>
                <a:lnTo>
                  <a:pt x="4116684" y="3891365"/>
                </a:lnTo>
                <a:lnTo>
                  <a:pt x="0" y="3891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47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14692" y="837557"/>
            <a:ext cx="2724805" cy="34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Generate set 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4810" y="3628384"/>
            <a:ext cx="7206161" cy="298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281" lvl="1" indent="-263140" algn="l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25 data points were created.</a:t>
            </a:r>
          </a:p>
          <a:p>
            <a:pPr marL="526281" lvl="1" indent="-263140" algn="l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Each data point has 10 features → because we used polynomial degree 9  (features: 1, x, x², x³, …, x⁹)</a:t>
            </a:r>
          </a:p>
          <a:p>
            <a:pPr marL="526281" lvl="1" indent="-263140" algn="l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target vector y has 25 values, one for each x.</a:t>
            </a:r>
          </a:p>
          <a:p>
            <a:pPr algn="l">
              <a:lnSpc>
                <a:spcPts val="3412"/>
              </a:lnSpc>
            </a:pPr>
            <a:endParaRPr lang="en-US" sz="2437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53272" y="771230"/>
            <a:ext cx="8657966" cy="514941"/>
            <a:chOff x="0" y="0"/>
            <a:chExt cx="2280287" cy="135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364579" y="2211379"/>
            <a:ext cx="7155164" cy="6018221"/>
          </a:xfrm>
          <a:custGeom>
            <a:avLst/>
            <a:gdLst/>
            <a:ahLst/>
            <a:cxnLst/>
            <a:rect l="l" t="t" r="r" b="b"/>
            <a:pathLst>
              <a:path w="7155164" h="6018221">
                <a:moveTo>
                  <a:pt x="0" y="0"/>
                </a:moveTo>
                <a:lnTo>
                  <a:pt x="7155164" y="0"/>
                </a:lnTo>
                <a:lnTo>
                  <a:pt x="7155164" y="6018221"/>
                </a:lnTo>
                <a:lnTo>
                  <a:pt x="0" y="6018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343979" y="2445716"/>
            <a:ext cx="7198357" cy="508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split the data into training (15) , testing (5) and validation (5).</a:t>
            </a:r>
          </a:p>
          <a:p>
            <a:pPr algn="l">
              <a:lnSpc>
                <a:spcPts val="2883"/>
              </a:lnSpc>
            </a:pPr>
            <a:endParaRPr lang="en-US" sz="2799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04519" lvl="1" indent="-302260" algn="l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Ridge regression  advantage is to avoid overfitting </a:t>
            </a:r>
          </a:p>
          <a:p>
            <a:pPr algn="l">
              <a:lnSpc>
                <a:spcPts val="2883"/>
              </a:lnSpc>
            </a:pPr>
            <a:endParaRPr lang="en-US" sz="2799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04519" lvl="1" indent="-302260" algn="l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Ridge regression works by applying penalizing to reduce  the weights and biases to overcome the overfitting </a:t>
            </a:r>
          </a:p>
          <a:p>
            <a:pPr algn="l">
              <a:lnSpc>
                <a:spcPts val="2883"/>
              </a:lnSpc>
            </a:pPr>
            <a:endParaRPr lang="en-US" sz="2799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04519" lvl="1" indent="-302260" algn="l">
              <a:lnSpc>
                <a:spcPts val="2883"/>
              </a:lnSpc>
              <a:buFont typeface="Arial"/>
              <a:buChar char="•"/>
            </a:pPr>
            <a:r>
              <a:rPr lang="en-US" sz="27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When λ increases, Coefficients become smalle.</a:t>
            </a:r>
          </a:p>
          <a:p>
            <a:pPr algn="l">
              <a:lnSpc>
                <a:spcPts val="2883"/>
              </a:lnSpc>
            </a:pPr>
            <a:endParaRPr lang="en-US" sz="2799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l">
              <a:lnSpc>
                <a:spcPts val="2883"/>
              </a:lnSpc>
            </a:pPr>
            <a:r>
              <a:rPr lang="en-US" sz="2799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57026" y="837545"/>
            <a:ext cx="2386132" cy="34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Ridge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53272" y="771230"/>
            <a:ext cx="8657966" cy="514941"/>
            <a:chOff x="0" y="0"/>
            <a:chExt cx="2280287" cy="135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56395" y="2407688"/>
            <a:ext cx="9100630" cy="6014223"/>
          </a:xfrm>
          <a:custGeom>
            <a:avLst/>
            <a:gdLst/>
            <a:ahLst/>
            <a:cxnLst/>
            <a:rect l="l" t="t" r="r" b="b"/>
            <a:pathLst>
              <a:path w="9100630" h="6014223">
                <a:moveTo>
                  <a:pt x="0" y="0"/>
                </a:moveTo>
                <a:lnTo>
                  <a:pt x="9100631" y="0"/>
                </a:lnTo>
                <a:lnTo>
                  <a:pt x="9100631" y="6014224"/>
                </a:lnTo>
                <a:lnTo>
                  <a:pt x="0" y="6014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557026" y="837545"/>
            <a:ext cx="2386132" cy="34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Ridge regression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02827" y="4061557"/>
            <a:ext cx="6740746" cy="1552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102" lvl="1" indent="-241551" algn="just">
              <a:lnSpc>
                <a:spcPts val="3132"/>
              </a:lnSpc>
              <a:buFont typeface="Arial"/>
              <a:buChar char="•"/>
            </a:pPr>
            <a:r>
              <a:rPr lang="en-US" sz="22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As shown ,the value of 𝜆 that produces the model with the best generalization  performance  is 1e-9 becouse it give the min value of MSE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0668" y="350357"/>
            <a:ext cx="8657966" cy="514941"/>
            <a:chOff x="0" y="0"/>
            <a:chExt cx="2280287" cy="135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3485" y="946999"/>
            <a:ext cx="11301259" cy="4647643"/>
          </a:xfrm>
          <a:custGeom>
            <a:avLst/>
            <a:gdLst/>
            <a:ahLst/>
            <a:cxnLst/>
            <a:rect l="l" t="t" r="r" b="b"/>
            <a:pathLst>
              <a:path w="11301259" h="4647643">
                <a:moveTo>
                  <a:pt x="0" y="0"/>
                </a:moveTo>
                <a:lnTo>
                  <a:pt x="11301259" y="0"/>
                </a:lnTo>
                <a:lnTo>
                  <a:pt x="11301259" y="4647642"/>
                </a:lnTo>
                <a:lnTo>
                  <a:pt x="0" y="4647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3485" y="5594641"/>
            <a:ext cx="11301259" cy="4492250"/>
          </a:xfrm>
          <a:custGeom>
            <a:avLst/>
            <a:gdLst/>
            <a:ahLst/>
            <a:cxnLst/>
            <a:rect l="l" t="t" r="r" b="b"/>
            <a:pathLst>
              <a:path w="11301259" h="4492250">
                <a:moveTo>
                  <a:pt x="0" y="0"/>
                </a:moveTo>
                <a:lnTo>
                  <a:pt x="11301259" y="0"/>
                </a:lnTo>
                <a:lnTo>
                  <a:pt x="11301259" y="4492251"/>
                </a:lnTo>
                <a:lnTo>
                  <a:pt x="0" y="4492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866044" y="406324"/>
            <a:ext cx="3067212" cy="36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RBF basis functions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94744" y="2537222"/>
            <a:ext cx="6356892" cy="396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923" lvl="1" indent="-219961" algn="ctr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1 RBF has underfitting, Fails to fit training data well</a:t>
            </a:r>
          </a:p>
          <a:p>
            <a:pPr algn="l">
              <a:lnSpc>
                <a:spcPts val="2852"/>
              </a:lnSpc>
            </a:pPr>
            <a:endParaRPr lang="en-US" sz="2037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439923" lvl="1" indent="-219961" algn="l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5 RBF  ,the model significantly improves and starts to follow the overall shape of the True function.</a:t>
            </a:r>
          </a:p>
          <a:p>
            <a:pPr algn="l">
              <a:lnSpc>
                <a:spcPts val="2852"/>
              </a:lnSpc>
            </a:pPr>
            <a:endParaRPr lang="en-US" sz="2037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439923" lvl="1" indent="-219961" algn="l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10 RBF, </a:t>
            </a:r>
            <a:r>
              <a:rPr lang="en-US" sz="2037" b="1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Best Generalization</a:t>
            </a: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 The model  almost perfectly overlaps with the True function.</a:t>
            </a:r>
          </a:p>
          <a:p>
            <a:pPr algn="l">
              <a:lnSpc>
                <a:spcPts val="2852"/>
              </a:lnSpc>
            </a:pPr>
            <a:endParaRPr lang="en-US" sz="2037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439923" lvl="1" indent="-219961" algn="l">
              <a:lnSpc>
                <a:spcPts val="2852"/>
              </a:lnSpc>
              <a:buFont typeface="Arial"/>
              <a:buChar char="•"/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50 RBF , the model has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90788" y="771230"/>
            <a:ext cx="8657966" cy="514941"/>
            <a:chOff x="0" y="0"/>
            <a:chExt cx="2280287" cy="135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626004" y="2018731"/>
            <a:ext cx="8661996" cy="8268269"/>
          </a:xfrm>
          <a:custGeom>
            <a:avLst/>
            <a:gdLst/>
            <a:ahLst/>
            <a:cxnLst/>
            <a:rect l="l" t="t" r="r" b="b"/>
            <a:pathLst>
              <a:path w="8661996" h="8268269">
                <a:moveTo>
                  <a:pt x="0" y="0"/>
                </a:moveTo>
                <a:lnTo>
                  <a:pt x="8661996" y="0"/>
                </a:lnTo>
                <a:lnTo>
                  <a:pt x="8661996" y="8268269"/>
                </a:lnTo>
                <a:lnTo>
                  <a:pt x="0" y="8268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0" y="0"/>
            <a:ext cx="5004157" cy="4776695"/>
          </a:xfrm>
          <a:custGeom>
            <a:avLst/>
            <a:gdLst/>
            <a:ahLst/>
            <a:cxnLst/>
            <a:rect l="l" t="t" r="r" b="b"/>
            <a:pathLst>
              <a:path w="5004157" h="4776695">
                <a:moveTo>
                  <a:pt x="0" y="0"/>
                </a:moveTo>
                <a:lnTo>
                  <a:pt x="5004157" y="0"/>
                </a:lnTo>
                <a:lnTo>
                  <a:pt x="5004157" y="4776695"/>
                </a:lnTo>
                <a:lnTo>
                  <a:pt x="0" y="4776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20915" y="805938"/>
            <a:ext cx="1412448" cy="39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23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Part -2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2570" y="4916483"/>
            <a:ext cx="7588002" cy="123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4AAD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Logistic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85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-27710" y="1"/>
            <a:ext cx="5915558" cy="3695700"/>
          </a:xfrm>
          <a:custGeom>
            <a:avLst/>
            <a:gdLst/>
            <a:ahLst/>
            <a:cxnLst/>
            <a:rect l="l" t="t" r="r" b="b"/>
            <a:pathLst>
              <a:path w="8755872" h="5794796">
                <a:moveTo>
                  <a:pt x="0" y="0"/>
                </a:moveTo>
                <a:lnTo>
                  <a:pt x="8755873" y="0"/>
                </a:lnTo>
                <a:lnTo>
                  <a:pt x="8755873" y="5794795"/>
                </a:lnTo>
                <a:lnTo>
                  <a:pt x="0" y="5794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8070668" y="771230"/>
            <a:ext cx="8657966" cy="514941"/>
            <a:chOff x="0" y="0"/>
            <a:chExt cx="2280287" cy="1356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514692" y="4852590"/>
            <a:ext cx="5947033" cy="2643126"/>
          </a:xfrm>
          <a:custGeom>
            <a:avLst/>
            <a:gdLst/>
            <a:ahLst/>
            <a:cxnLst/>
            <a:rect l="l" t="t" r="r" b="b"/>
            <a:pathLst>
              <a:path w="5947033" h="2643126">
                <a:moveTo>
                  <a:pt x="0" y="0"/>
                </a:moveTo>
                <a:lnTo>
                  <a:pt x="5947033" y="0"/>
                </a:lnTo>
                <a:lnTo>
                  <a:pt x="5947033" y="2643125"/>
                </a:lnTo>
                <a:lnTo>
                  <a:pt x="0" y="26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14692" y="837557"/>
            <a:ext cx="3592654" cy="34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preprocessing and spliting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804" y="5105400"/>
            <a:ext cx="9474771" cy="221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2"/>
              </a:lnSpc>
              <a:spcBef>
                <a:spcPct val="0"/>
              </a:spcBef>
            </a:pPr>
            <a:r>
              <a:rPr lang="en-US" sz="2137" b="1" dirty="0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    Before  apply  the logistic regression I did :</a:t>
            </a:r>
          </a:p>
          <a:p>
            <a:pPr marL="461512" lvl="1" indent="-230756" algn="just">
              <a:lnSpc>
                <a:spcPts val="2992"/>
              </a:lnSpc>
              <a:spcBef>
                <a:spcPct val="0"/>
              </a:spcBef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Handle missing values</a:t>
            </a:r>
          </a:p>
          <a:p>
            <a:pPr marL="461512" lvl="1" indent="-230756" algn="just">
              <a:lnSpc>
                <a:spcPts val="2992"/>
              </a:lnSpc>
              <a:spcBef>
                <a:spcPct val="0"/>
              </a:spcBef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Apply standardization on numeric features</a:t>
            </a:r>
          </a:p>
          <a:p>
            <a:pPr marL="461512" lvl="1" indent="-230756" algn="just">
              <a:lnSpc>
                <a:spcPts val="2992"/>
              </a:lnSpc>
              <a:spcBef>
                <a:spcPct val="0"/>
              </a:spcBef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Split the dataset into: 2500 training samples, 500 validation samples,</a:t>
            </a:r>
          </a:p>
          <a:p>
            <a:pPr marL="461512" lvl="1" indent="-230756" algn="just">
              <a:lnSpc>
                <a:spcPts val="2992"/>
              </a:lnSpc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and 500 test samples</a:t>
            </a:r>
          </a:p>
          <a:p>
            <a:pPr algn="just">
              <a:lnSpc>
                <a:spcPts val="2992"/>
              </a:lnSpc>
              <a:spcBef>
                <a:spcPct val="0"/>
              </a:spcBef>
            </a:pPr>
            <a:endParaRPr lang="en-US" sz="2137" dirty="0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84503" y="3850401"/>
            <a:ext cx="6500878" cy="8162692"/>
          </a:xfrm>
          <a:custGeom>
            <a:avLst/>
            <a:gdLst/>
            <a:ahLst/>
            <a:cxnLst/>
            <a:rect l="l" t="t" r="r" b="b"/>
            <a:pathLst>
              <a:path w="6500878" h="8162692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4006337" y="341167"/>
            <a:ext cx="6500878" cy="8162692"/>
          </a:xfrm>
          <a:custGeom>
            <a:avLst/>
            <a:gdLst/>
            <a:ahLst/>
            <a:cxnLst/>
            <a:rect l="l" t="t" r="r" b="b"/>
            <a:pathLst>
              <a:path w="6500878" h="8162692">
                <a:moveTo>
                  <a:pt x="0" y="0"/>
                </a:moveTo>
                <a:lnTo>
                  <a:pt x="6500877" y="0"/>
                </a:lnTo>
                <a:lnTo>
                  <a:pt x="6500877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8050547" y="341167"/>
            <a:ext cx="8657966" cy="536108"/>
            <a:chOff x="0" y="0"/>
            <a:chExt cx="2280287" cy="1411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80287" cy="141197"/>
            </a:xfrm>
            <a:custGeom>
              <a:avLst/>
              <a:gdLst/>
              <a:ahLst/>
              <a:cxnLst/>
              <a:rect l="l" t="t" r="r" b="b"/>
              <a:pathLst>
                <a:path w="2280287" h="141197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5593"/>
                  </a:lnTo>
                  <a:cubicBezTo>
                    <a:pt x="2280287" y="107688"/>
                    <a:pt x="2275483" y="119288"/>
                    <a:pt x="2266930" y="127840"/>
                  </a:cubicBezTo>
                  <a:cubicBezTo>
                    <a:pt x="2258378" y="136392"/>
                    <a:pt x="2246778" y="141197"/>
                    <a:pt x="2234683" y="141197"/>
                  </a:cubicBezTo>
                  <a:lnTo>
                    <a:pt x="45604" y="141197"/>
                  </a:lnTo>
                  <a:cubicBezTo>
                    <a:pt x="20418" y="141197"/>
                    <a:pt x="0" y="120780"/>
                    <a:pt x="0" y="95593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80287" cy="17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2321180"/>
            <a:ext cx="7234788" cy="6182678"/>
          </a:xfrm>
          <a:custGeom>
            <a:avLst/>
            <a:gdLst/>
            <a:ahLst/>
            <a:cxnLst/>
            <a:rect l="l" t="t" r="r" b="b"/>
            <a:pathLst>
              <a:path w="7234788" h="6182678">
                <a:moveTo>
                  <a:pt x="0" y="0"/>
                </a:moveTo>
                <a:lnTo>
                  <a:pt x="7234788" y="0"/>
                </a:lnTo>
                <a:lnTo>
                  <a:pt x="7234788" y="6182678"/>
                </a:lnTo>
                <a:lnTo>
                  <a:pt x="0" y="6182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9" r="-4037" b="-41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633983" y="400953"/>
            <a:ext cx="7110086" cy="37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</a:pPr>
            <a:r>
              <a:rPr lang="en-US" sz="226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Logistic Regression with a linear decssion boundary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5186" y="2909740"/>
            <a:ext cx="7168884" cy="4676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102" lvl="1" indent="-241551" algn="just">
              <a:lnSpc>
                <a:spcPts val="3132"/>
              </a:lnSpc>
              <a:buFont typeface="Arial"/>
              <a:buChar char="•"/>
            </a:pPr>
            <a:r>
              <a:rPr lang="en-US" sz="22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model correctly identifies most customers overall (good accuracy).</a:t>
            </a:r>
          </a:p>
          <a:p>
            <a:pPr marL="483102" lvl="1" indent="-241551" algn="just">
              <a:lnSpc>
                <a:spcPts val="3132"/>
              </a:lnSpc>
              <a:buFont typeface="Arial"/>
              <a:buChar char="•"/>
            </a:pPr>
            <a:r>
              <a:rPr lang="en-US" sz="22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It catches all customers who churn (recall = 1.0).</a:t>
            </a:r>
          </a:p>
          <a:p>
            <a:pPr marL="483102" lvl="1" indent="-241551" algn="just">
              <a:lnSpc>
                <a:spcPts val="3132"/>
              </a:lnSpc>
              <a:buFont typeface="Arial"/>
              <a:buChar char="•"/>
            </a:pPr>
            <a:r>
              <a:rPr lang="en-US" sz="22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However, many of the customers predicted as “churn” are actually not churners (low precision).</a:t>
            </a:r>
          </a:p>
          <a:p>
            <a:pPr marL="483102" lvl="1" indent="-241551" algn="just">
              <a:lnSpc>
                <a:spcPts val="3132"/>
              </a:lnSpc>
              <a:buFont typeface="Arial"/>
              <a:buChar char="•"/>
            </a:pPr>
            <a:r>
              <a:rPr lang="en-US" sz="22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If the classes are perfectly linearly separable, a logistic regression model can achieve high accuracy and recall by finding a decision boundary that effectively isolates the classes.</a:t>
            </a:r>
          </a:p>
          <a:p>
            <a:pPr algn="just">
              <a:lnSpc>
                <a:spcPts val="3132"/>
              </a:lnSpc>
            </a:pPr>
            <a:endParaRPr lang="en-US" sz="2237" dirty="0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just">
              <a:lnSpc>
                <a:spcPts val="3132"/>
              </a:lnSpc>
            </a:pPr>
            <a:endParaRPr lang="en-US" sz="2237" dirty="0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90707" y="341167"/>
            <a:ext cx="9017806" cy="536108"/>
            <a:chOff x="0" y="0"/>
            <a:chExt cx="2375060" cy="1411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75060" cy="141197"/>
            </a:xfrm>
            <a:custGeom>
              <a:avLst/>
              <a:gdLst/>
              <a:ahLst/>
              <a:cxnLst/>
              <a:rect l="l" t="t" r="r" b="b"/>
              <a:pathLst>
                <a:path w="2375060" h="141197">
                  <a:moveTo>
                    <a:pt x="43784" y="0"/>
                  </a:moveTo>
                  <a:lnTo>
                    <a:pt x="2331276" y="0"/>
                  </a:lnTo>
                  <a:cubicBezTo>
                    <a:pt x="2342888" y="0"/>
                    <a:pt x="2354025" y="4613"/>
                    <a:pt x="2362236" y="12824"/>
                  </a:cubicBezTo>
                  <a:cubicBezTo>
                    <a:pt x="2370447" y="21035"/>
                    <a:pt x="2375060" y="32172"/>
                    <a:pt x="2375060" y="43784"/>
                  </a:cubicBezTo>
                  <a:lnTo>
                    <a:pt x="2375060" y="97413"/>
                  </a:lnTo>
                  <a:cubicBezTo>
                    <a:pt x="2375060" y="109025"/>
                    <a:pt x="2370447" y="120162"/>
                    <a:pt x="2362236" y="128373"/>
                  </a:cubicBezTo>
                  <a:cubicBezTo>
                    <a:pt x="2354025" y="136584"/>
                    <a:pt x="2342888" y="141197"/>
                    <a:pt x="2331276" y="141197"/>
                  </a:cubicBezTo>
                  <a:lnTo>
                    <a:pt x="43784" y="141197"/>
                  </a:lnTo>
                  <a:cubicBezTo>
                    <a:pt x="32172" y="141197"/>
                    <a:pt x="21035" y="136584"/>
                    <a:pt x="12824" y="128373"/>
                  </a:cubicBezTo>
                  <a:cubicBezTo>
                    <a:pt x="4613" y="120162"/>
                    <a:pt x="0" y="109025"/>
                    <a:pt x="0" y="97413"/>
                  </a:cubicBezTo>
                  <a:lnTo>
                    <a:pt x="0" y="43784"/>
                  </a:lnTo>
                  <a:cubicBezTo>
                    <a:pt x="0" y="32172"/>
                    <a:pt x="4613" y="21035"/>
                    <a:pt x="12824" y="12824"/>
                  </a:cubicBezTo>
                  <a:cubicBezTo>
                    <a:pt x="21035" y="4613"/>
                    <a:pt x="32172" y="0"/>
                    <a:pt x="437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75060" cy="17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21890" y="2140329"/>
            <a:ext cx="3751698" cy="4992733"/>
          </a:xfrm>
          <a:custGeom>
            <a:avLst/>
            <a:gdLst/>
            <a:ahLst/>
            <a:cxnLst/>
            <a:rect l="l" t="t" r="r" b="b"/>
            <a:pathLst>
              <a:path w="3751698" h="4992733">
                <a:moveTo>
                  <a:pt x="0" y="0"/>
                </a:moveTo>
                <a:lnTo>
                  <a:pt x="3751699" y="0"/>
                </a:lnTo>
                <a:lnTo>
                  <a:pt x="3751699" y="4992733"/>
                </a:lnTo>
                <a:lnTo>
                  <a:pt x="0" y="4992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9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0255" y="2140329"/>
            <a:ext cx="3583920" cy="5008298"/>
          </a:xfrm>
          <a:custGeom>
            <a:avLst/>
            <a:gdLst/>
            <a:ahLst/>
            <a:cxnLst/>
            <a:rect l="l" t="t" r="r" b="b"/>
            <a:pathLst>
              <a:path w="3583920" h="5008298">
                <a:moveTo>
                  <a:pt x="0" y="0"/>
                </a:moveTo>
                <a:lnTo>
                  <a:pt x="3583920" y="0"/>
                </a:lnTo>
                <a:lnTo>
                  <a:pt x="3583920" y="5008298"/>
                </a:lnTo>
                <a:lnTo>
                  <a:pt x="0" y="5008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266991" y="2140329"/>
            <a:ext cx="3696296" cy="5032307"/>
          </a:xfrm>
          <a:custGeom>
            <a:avLst/>
            <a:gdLst/>
            <a:ahLst/>
            <a:cxnLst/>
            <a:rect l="l" t="t" r="r" b="b"/>
            <a:pathLst>
              <a:path w="3696296" h="5032307">
                <a:moveTo>
                  <a:pt x="0" y="0"/>
                </a:moveTo>
                <a:lnTo>
                  <a:pt x="3696296" y="0"/>
                </a:lnTo>
                <a:lnTo>
                  <a:pt x="3696296" y="5032307"/>
                </a:lnTo>
                <a:lnTo>
                  <a:pt x="0" y="503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263560" y="400953"/>
            <a:ext cx="7872100" cy="37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</a:pPr>
            <a:r>
              <a:rPr lang="en-US" sz="226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Logistic Regression with a non-linear decssion boundary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9840" y="1670162"/>
            <a:ext cx="4444750" cy="355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2"/>
              </a:lnSpc>
              <a:spcBef>
                <a:spcPct val="0"/>
              </a:spcBef>
            </a:pPr>
            <a:r>
              <a:rPr lang="en-US" sz="2137" b="1">
                <a:solidFill>
                  <a:srgbClr val="48348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Degree 2 polynomial Features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84258" y="1677110"/>
            <a:ext cx="3764793" cy="34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  <a:spcBef>
                <a:spcPct val="0"/>
              </a:spcBef>
            </a:pPr>
            <a:r>
              <a:rPr lang="en-US" sz="2037" b="1">
                <a:solidFill>
                  <a:srgbClr val="48348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Degree 5 polynomial Features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9610" y="1677110"/>
            <a:ext cx="3763677" cy="34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  <a:spcBef>
                <a:spcPct val="0"/>
              </a:spcBef>
            </a:pPr>
            <a:r>
              <a:rPr lang="en-US" sz="2037" b="1">
                <a:solidFill>
                  <a:srgbClr val="48348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Degree 9 polynomial Features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6082" y="8067986"/>
            <a:ext cx="14834957" cy="710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sz="2037">
                <a:solidFill>
                  <a:srgbClr val="483483"/>
                </a:solidFill>
                <a:latin typeface="Be Vietnam"/>
                <a:ea typeface="Be Vietnam"/>
                <a:cs typeface="Be Vietnam"/>
                <a:sym typeface="Be Vietnam"/>
              </a:rPr>
              <a:t>As the polynomial degree increases, the model becomes more complex.Low-degree models generalize well, but high-degree models overfit by memorizing noise, which reduces accuracy and stability on new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91425" y="7688153"/>
            <a:ext cx="10335425" cy="3140294"/>
          </a:xfrm>
          <a:custGeom>
            <a:avLst/>
            <a:gdLst/>
            <a:ahLst/>
            <a:cxnLst/>
            <a:rect l="l" t="t" r="r" b="b"/>
            <a:pathLst>
              <a:path w="10335425" h="3140294">
                <a:moveTo>
                  <a:pt x="0" y="0"/>
                </a:moveTo>
                <a:lnTo>
                  <a:pt x="10335425" y="0"/>
                </a:lnTo>
                <a:lnTo>
                  <a:pt x="10335425" y="3140294"/>
                </a:lnTo>
                <a:lnTo>
                  <a:pt x="0" y="314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8050547" y="771230"/>
            <a:ext cx="8657966" cy="514941"/>
            <a:chOff x="0" y="0"/>
            <a:chExt cx="2280287" cy="1356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96018" y="1910043"/>
            <a:ext cx="8911724" cy="6466915"/>
          </a:xfrm>
          <a:custGeom>
            <a:avLst/>
            <a:gdLst/>
            <a:ahLst/>
            <a:cxnLst/>
            <a:rect l="l" t="t" r="r" b="b"/>
            <a:pathLst>
              <a:path w="8911724" h="6466915">
                <a:moveTo>
                  <a:pt x="0" y="0"/>
                </a:moveTo>
                <a:lnTo>
                  <a:pt x="8911724" y="0"/>
                </a:lnTo>
                <a:lnTo>
                  <a:pt x="8911724" y="6466914"/>
                </a:lnTo>
                <a:lnTo>
                  <a:pt x="0" y="6466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34371" y="837545"/>
            <a:ext cx="1412448" cy="34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ROC curve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46018" y="3237599"/>
            <a:ext cx="5503829" cy="258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512" lvl="1" indent="-230756" algn="l">
              <a:lnSpc>
                <a:spcPts val="2992"/>
              </a:lnSpc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Choose the best model based on the highest recall .</a:t>
            </a:r>
          </a:p>
          <a:p>
            <a:pPr algn="l">
              <a:lnSpc>
                <a:spcPts val="2992"/>
              </a:lnSpc>
            </a:pPr>
            <a:endParaRPr lang="en-US" sz="2137" dirty="0">
              <a:solidFill>
                <a:srgbClr val="004AA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461512" lvl="1" indent="-230756" algn="just">
              <a:lnSpc>
                <a:spcPts val="2992"/>
              </a:lnSpc>
              <a:buFont typeface="Arial"/>
              <a:buChar char="•"/>
            </a:pPr>
            <a:r>
              <a:rPr lang="en-US" sz="2137" dirty="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higher AUC means the model is doing good and the model effectively distinguishes between positive and negative instances.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94164" y="1954516"/>
            <a:ext cx="8624345" cy="8624345"/>
          </a:xfrm>
          <a:custGeom>
            <a:avLst/>
            <a:gdLst/>
            <a:ahLst/>
            <a:cxnLst/>
            <a:rect l="l" t="t" r="r" b="b"/>
            <a:pathLst>
              <a:path w="8624345" h="8624345">
                <a:moveTo>
                  <a:pt x="0" y="0"/>
                </a:moveTo>
                <a:lnTo>
                  <a:pt x="8624345" y="0"/>
                </a:lnTo>
                <a:lnTo>
                  <a:pt x="8624345" y="8624345"/>
                </a:lnTo>
                <a:lnTo>
                  <a:pt x="0" y="862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12770135" y="2867414"/>
            <a:ext cx="4489165" cy="9311258"/>
          </a:xfrm>
          <a:custGeom>
            <a:avLst/>
            <a:gdLst/>
            <a:ahLst/>
            <a:cxnLst/>
            <a:rect l="l" t="t" r="r" b="b"/>
            <a:pathLst>
              <a:path w="4489165" h="9311258">
                <a:moveTo>
                  <a:pt x="4489165" y="0"/>
                </a:moveTo>
                <a:lnTo>
                  <a:pt x="0" y="0"/>
                </a:lnTo>
                <a:lnTo>
                  <a:pt x="0" y="9311259"/>
                </a:lnTo>
                <a:lnTo>
                  <a:pt x="4489165" y="9311259"/>
                </a:lnTo>
                <a:lnTo>
                  <a:pt x="4489165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186569" y="-483186"/>
            <a:ext cx="8624345" cy="8624345"/>
          </a:xfrm>
          <a:custGeom>
            <a:avLst/>
            <a:gdLst/>
            <a:ahLst/>
            <a:cxnLst/>
            <a:rect l="l" t="t" r="r" b="b"/>
            <a:pathLst>
              <a:path w="8624345" h="8624345">
                <a:moveTo>
                  <a:pt x="0" y="0"/>
                </a:moveTo>
                <a:lnTo>
                  <a:pt x="8624345" y="0"/>
                </a:lnTo>
                <a:lnTo>
                  <a:pt x="8624345" y="8624346"/>
                </a:lnTo>
                <a:lnTo>
                  <a:pt x="0" y="862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432728" y="4907095"/>
            <a:ext cx="7606075" cy="135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20"/>
              </a:lnSpc>
              <a:spcBef>
                <a:spcPct val="0"/>
              </a:spcBef>
            </a:pPr>
            <a:r>
              <a:rPr lang="en-US" sz="9922" b="1" u="none" strike="noStrik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Thank You!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050547" y="771230"/>
            <a:ext cx="8657966" cy="514941"/>
            <a:chOff x="0" y="0"/>
            <a:chExt cx="2280287" cy="1356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0287" cy="135622"/>
            </a:xfrm>
            <a:custGeom>
              <a:avLst/>
              <a:gdLst/>
              <a:ahLst/>
              <a:cxnLst/>
              <a:rect l="l" t="t" r="r" b="b"/>
              <a:pathLst>
                <a:path w="2280287" h="135622">
                  <a:moveTo>
                    <a:pt x="45604" y="0"/>
                  </a:moveTo>
                  <a:lnTo>
                    <a:pt x="2234683" y="0"/>
                  </a:lnTo>
                  <a:cubicBezTo>
                    <a:pt x="2246778" y="0"/>
                    <a:pt x="2258378" y="4805"/>
                    <a:pt x="2266930" y="13357"/>
                  </a:cubicBezTo>
                  <a:cubicBezTo>
                    <a:pt x="2275483" y="21910"/>
                    <a:pt x="2280287" y="33509"/>
                    <a:pt x="2280287" y="45604"/>
                  </a:cubicBezTo>
                  <a:lnTo>
                    <a:pt x="2280287" y="90018"/>
                  </a:lnTo>
                  <a:cubicBezTo>
                    <a:pt x="2280287" y="115205"/>
                    <a:pt x="2259870" y="135622"/>
                    <a:pt x="2234683" y="135622"/>
                  </a:cubicBezTo>
                  <a:lnTo>
                    <a:pt x="45604" y="135622"/>
                  </a:lnTo>
                  <a:cubicBezTo>
                    <a:pt x="20418" y="135622"/>
                    <a:pt x="0" y="115205"/>
                    <a:pt x="0" y="90018"/>
                  </a:cubicBezTo>
                  <a:lnTo>
                    <a:pt x="0" y="45604"/>
                  </a:lnTo>
                  <a:cubicBezTo>
                    <a:pt x="0" y="20418"/>
                    <a:pt x="20418" y="0"/>
                    <a:pt x="456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B7E4">
                    <a:alpha val="29000"/>
                  </a:srgbClr>
                </a:gs>
                <a:gs pos="100000">
                  <a:srgbClr val="70659C">
                    <a:alpha val="29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80287" cy="17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514692" y="837557"/>
            <a:ext cx="2255444" cy="34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sz="2037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Thank you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418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Be Vietnam</vt:lpstr>
      <vt:lpstr>Visconte</vt:lpstr>
      <vt:lpstr>Calibri</vt:lpstr>
      <vt:lpstr>Berkshire Swash</vt:lpstr>
      <vt:lpstr>Arial</vt:lpstr>
      <vt:lpstr>File</vt:lpstr>
      <vt:lpstr>Be Vietnam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Artificial Intelligent Presentation</dc:title>
  <cp:lastModifiedBy>T-Noora Khdour</cp:lastModifiedBy>
  <cp:revision>2</cp:revision>
  <dcterms:created xsi:type="dcterms:W3CDTF">2006-08-16T00:00:00Z</dcterms:created>
  <dcterms:modified xsi:type="dcterms:W3CDTF">2025-12-16T23:11:23Z</dcterms:modified>
  <dc:identifier>DAG5hjaEeAc</dc:identifier>
</cp:coreProperties>
</file>